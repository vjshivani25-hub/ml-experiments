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B32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2B32"/>
                </a:solidFill>
                <a:latin typeface="+mn-lt"/>
              </a:rPr>
              <a:t>Model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B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</c:v>
                </c:pt>
                <c:pt idx="1">
                  <c:v>0.74</c:v>
                </c:pt>
                <c:pt idx="2">
                  <c:v>0.7</c:v>
                </c:pt>
                <c:pt idx="3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C1-4FF2-AACD-B272F420D9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B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</c:v>
                </c:pt>
                <c:pt idx="1">
                  <c:v>0.76</c:v>
                </c:pt>
                <c:pt idx="2">
                  <c:v>0.73</c:v>
                </c:pt>
                <c:pt idx="3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C1-4FF2-AACD-B272F420D9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A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7A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B32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2B32"/>
                </a:solidFill>
                <a:latin typeface="+mn-lt"/>
              </a:rPr>
              <a:t>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B3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Glucose</c:v>
                </c:pt>
                <c:pt idx="1">
                  <c:v>BMI</c:v>
                </c:pt>
                <c:pt idx="2">
                  <c:v>Age</c:v>
                </c:pt>
                <c:pt idx="3">
                  <c:v>Insulin</c:v>
                </c:pt>
                <c:pt idx="4">
                  <c:v>Blood Pressure</c:v>
                </c:pt>
                <c:pt idx="5">
                  <c:v>Pregnancies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0.31</c:v>
                </c:pt>
                <c:pt idx="1">
                  <c:v>0.22</c:v>
                </c:pt>
                <c:pt idx="2">
                  <c:v>0.18</c:v>
                </c:pt>
                <c:pt idx="3">
                  <c:v>0.13</c:v>
                </c:pt>
                <c:pt idx="4">
                  <c:v>0.09</c:v>
                </c:pt>
                <c:pt idx="5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28-44A9-982B-A2B15BE1ED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A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t"/>
        <c:majorGridlines>
          <c:spPr>
            <a:ln w="6350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0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IN DIABETES PREDICTION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23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651760" y="512064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212080"/>
            <a:ext cx="2011680" cy="201168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8872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Analysis in Diabetes Prediction Using Random Forest and XGBoost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32375" y="34975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Mosangi Vijaya Lakshmi    </a:t>
            </a: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2520090201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Potlabathini Shashanth     </a:t>
            </a: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2520090211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Pawan Kumar                   </a:t>
            </a: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 I V Sai Haritha </a:t>
            </a:r>
            <a:r>
              <a:rPr lang="en-US" sz="1400" i="1" dirty="0" err="1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Asst.Professor,Dept.of</a:t>
            </a: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CS&amp;IT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Information Technology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77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University: KL University, </a:t>
            </a:r>
            <a:r>
              <a:rPr lang="en-US" sz="1200" dirty="0" err="1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Bachupally</a:t>
            </a:r>
            <a:r>
              <a:rPr lang="en-US" sz="1200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Campus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97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domain and why the project is needed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10512"/>
            <a:ext cx="420624" cy="420624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83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of the project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945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highly prevalent chronic disease; undiagnosed cases risk cardiovascular disease, kidney failure, and nerve damage.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2644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overview of the domain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67588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clinical data enables early screening. Ensemble models like Random Forest and XGBoost are accurate but often act as “black boxes.”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773168"/>
            <a:ext cx="420624" cy="420624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745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project is needed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15721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interpretability limits clinical adoption — practitioners need to know why a model predicts what it predicts.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35240" y="1783080"/>
            <a:ext cx="4005072" cy="4389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552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meets machine learning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55280" y="3246120"/>
            <a:ext cx="3383280" cy="0"/>
          </a:xfrm>
          <a:prstGeom prst="line">
            <a:avLst/>
          </a:prstGeom>
          <a:noFill/>
          <a:ln w="12700">
            <a:solidFill>
              <a:srgbClr val="E3E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3474720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83396" y="3474720"/>
            <a:ext cx="52578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37192" y="3474720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3986784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63456" y="3986784"/>
            <a:ext cx="52578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17252" y="3986784"/>
            <a:ext cx="107442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5074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parameters used to classify patients as diabetic or non-diabetic.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today, why it is hard, and who it affects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often goes undetected until complications appear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 slow and depends on clinician experience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ML models give predictions without reasons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06824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205740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75504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/ challenges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9260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ensemble models lack transparency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 has missing or zero values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between diabetic and non-diabetic cases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205740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33688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9260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Patients: delayed diagnosis and treatment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Doctors: cannot trust unexplained predictions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systems: rising cost of late-stage care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Motivation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why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20624" cy="420624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selected this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one of the most common chronic diseases, and explainable ML is a growing need in healthcare.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749040"/>
            <a:ext cx="420624" cy="420624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need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8404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need transparent risk factors, not just a yes/no prediction, to trust and act on AI output.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257800"/>
            <a:ext cx="420624" cy="420624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983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/ industry motivation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3492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is a major focus of medical research and health-tech; feature importance and SHAP are widely used.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783080"/>
            <a:ext cx="4005072" cy="4389120"/>
          </a:xfrm>
          <a:prstGeom prst="roundRect">
            <a:avLst>
              <a:gd name="adj" fmla="val 2740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5603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models are not enough. Clinicians need to know why.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01000" y="484632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064958"/>
          </a:solidFill>
          <a:ln>
            <a:solidFill>
              <a:srgbClr val="06495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6840" y="4846320"/>
            <a:ext cx="662940" cy="402336"/>
          </a:xfrm>
          <a:prstGeom prst="roundRect">
            <a:avLst>
              <a:gd name="adj" fmla="val 18182"/>
            </a:avLst>
          </a:prstGeom>
          <a:solidFill>
            <a:srgbClr val="064958"/>
          </a:solidFill>
          <a:ln>
            <a:solidFill>
              <a:srgbClr val="06495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06940" y="484632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064958"/>
          </a:solidFill>
          <a:ln>
            <a:solidFill>
              <a:srgbClr val="06495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objective, four specific 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06240" cy="4389120"/>
          </a:xfrm>
          <a:prstGeom prst="roundRect">
            <a:avLst>
              <a:gd name="adj" fmla="val 2609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accurate and interpretable diabetes prediction system using Random Forest and XGBoost.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0" y="1783080"/>
            <a:ext cx="66111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201168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783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patients as diabetic / non-diabetic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2880360"/>
            <a:ext cx="66111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310896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880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Random Forest vs. XGBoost performance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3977640"/>
            <a:ext cx="66111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20624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977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clinical features by predictive importance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0" y="5074920"/>
            <a:ext cx="66111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5074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interpretable, clinically relevant insights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diabetes is predicted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approach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 using blood tests (fasting glucose, HbA1c)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 scores and doctor judgement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ML predictors focused only on accuracy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06824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205740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75504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technologies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9260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Decision Trees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and Neural Networks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used as black boxes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057400"/>
            <a:ext cx="457200" cy="457200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33688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9260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explanation of why a prediction was made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interpretability treated separately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clinicians to trust and adopt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rankings rarely compared across 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and how it fixes the limitations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system that classifies patients using Random Forest and XGBoost, and explains every prediction with Gini-based and gain-based feature importance.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PROPOSED SYSTEM ADDRESSES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566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predictions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23560" y="3730752"/>
            <a:ext cx="548640" cy="402336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566160"/>
            <a:ext cx="5330952" cy="731520"/>
          </a:xfrm>
          <a:prstGeom prst="roundRect">
            <a:avLst>
              <a:gd name="adj" fmla="val 15000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and gain-based importance explain the key factors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480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interpretability trade-off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23560" y="4645152"/>
            <a:ext cx="548640" cy="402336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480560"/>
            <a:ext cx="5330952" cy="731520"/>
          </a:xfrm>
          <a:prstGeom prst="roundRect">
            <a:avLst>
              <a:gd name="adj" fmla="val 15000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ensemble models compared on accuracy and explainability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5394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23560" y="5559552"/>
            <a:ext cx="548640" cy="402336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5394960"/>
            <a:ext cx="5330952" cy="731520"/>
          </a:xfrm>
          <a:prstGeom prst="roundRect">
            <a:avLst>
              <a:gd name="adj" fmla="val 15000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5394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handles missing values, scaling and train/test split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System Architecture / Block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Processing → Models → Output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parameters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BMI, Insulin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Pressure, Age, Pregnancies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0" y="3611880"/>
            <a:ext cx="374904" cy="45720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82880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1024" y="201168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Modules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66744" y="283464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07024" y="3611880"/>
            <a:ext cx="374904" cy="45720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82880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01168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/ Models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283464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(bagging)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(boosting)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96528" y="3611880"/>
            <a:ext cx="374904" cy="45720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828800"/>
            <a:ext cx="2423160" cy="40233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0032" y="2011680"/>
            <a:ext cx="2057400" cy="54864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45752" y="283464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/ non-diabetic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Methodology /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project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40902" y="2468880"/>
            <a:ext cx="9507147" cy="0"/>
          </a:xfrm>
          <a:prstGeom prst="line">
            <a:avLst/>
          </a:prstGeom>
          <a:noFill/>
          <a:ln w="25400">
            <a:solidFill>
              <a:srgbClr val="CFE6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142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Pima Indians Diabetes dataset (CSV)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59667" y="2103120"/>
            <a:ext cx="731520" cy="73152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60597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78885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normalize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44191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45121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63409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training and testing sets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28716" y="2103120"/>
            <a:ext cx="731520" cy="73152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29646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47934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and XGBoost classifiers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3241" y="2103120"/>
            <a:ext cx="731520" cy="73152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14170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32458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97765" y="2103120"/>
            <a:ext cx="731520" cy="73152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98695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516983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Gini-based (RF) and gain-based (XGBoost) scores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82290" y="2103120"/>
            <a:ext cx="731520" cy="731520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083219" y="3108960"/>
            <a:ext cx="15296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101507" y="3703320"/>
            <a:ext cx="149308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features, compare models, derive insights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algorithms, one goal: accurate classification with transparent, clinically usable reasoning.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 to build the prediction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7208" y="178308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35808" y="2057400"/>
            <a:ext cx="502920" cy="50292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6118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65776" y="178308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94376" y="2057400"/>
            <a:ext cx="502920" cy="502920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94376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36118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(optional)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24344" y="178308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52944" y="2057400"/>
            <a:ext cx="502920" cy="50292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52944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52944" y="36118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82912" y="1783080"/>
            <a:ext cx="2057400" cy="40233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11512" y="2057400"/>
            <a:ext cx="502920" cy="50292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2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/ Cloud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2" y="36118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Jupyter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laptop or PC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System Modules / Components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that make up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 or notebook cells for patient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783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201168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Pima Indians dataset from 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783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9944" y="2011680"/>
            <a:ext cx="457200" cy="457200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scales and splits the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97696" y="1783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6296" y="201168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/ ML Module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training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94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dataset and trained results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64992" y="4069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93592" y="4297680"/>
            <a:ext cx="457200" cy="457200"/>
          </a:xfrm>
          <a:prstGeom prst="ellipse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593592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/ Decision Module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93592" y="5394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patient as diabetic or not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81344" y="4069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9944" y="429768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/ Reporting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9944" y="5394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charts, metrics and plots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97696" y="4069080"/>
            <a:ext cx="264261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26296" y="429768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226296" y="4846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/ Security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226296" y="5394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access to sensitive patient data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steps, with a code and output example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83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explore the dataset using Pandas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replace invalid zeros and scale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977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and XGBoost using Scikit-learn and XGBoost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074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importance scores and plot them with Matplotlib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1783080"/>
            <a:ext cx="5056632" cy="4206240"/>
          </a:xfrm>
          <a:prstGeom prst="roundRect">
            <a:avLst>
              <a:gd name="adj" fmla="val 2609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OUTPUT EXAMPLE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5146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DDE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DDE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 = XGBClassifier(learning_rate=0.1)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DDE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DDE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xgb.fit(X_train, y_train)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DDE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print(rf.feature_importances_)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663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Glucose 0.31 | BMI 0.22 | Age 0.18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screens: see Section 16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 Dataset / Input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 (CSV)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1508760"/>
          </a:xfrm>
          <a:prstGeom prst="roundRect">
            <a:avLst>
              <a:gd name="adj" fmla="val 727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8745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6824" y="1783080"/>
            <a:ext cx="3575304" cy="150876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18745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998464" y="18745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575304" cy="1508760"/>
          </a:xfrm>
          <a:prstGeom prst="roundRect">
            <a:avLst>
              <a:gd name="adj" fmla="val 7273"/>
            </a:avLst>
          </a:prstGeom>
          <a:solidFill>
            <a:srgbClr val="E7F5F3"/>
          </a:solidFill>
          <a:ln w="12700">
            <a:solidFill>
              <a:srgbClr val="E7F5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8745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3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9756648" y="18745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diabetic / non-diabetic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8521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10744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71116" y="4160520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99232" y="416052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07408" y="416052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672584"/>
            <a:ext cx="8001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96796" y="4672584"/>
            <a:ext cx="52578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50592" y="4672584"/>
            <a:ext cx="1485900" cy="384048"/>
          </a:xfrm>
          <a:prstGeom prst="roundRect">
            <a:avLst>
              <a:gd name="adj" fmla="val 19048"/>
            </a:avLst>
          </a:prstGeom>
          <a:solidFill>
            <a:srgbClr val="E7F5F3"/>
          </a:solidFill>
          <a:ln>
            <a:solidFill>
              <a:srgbClr val="E7F5F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Pedigree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4508" y="4672584"/>
            <a:ext cx="52578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the 6 key clinical features analysed. Target label: Outcome (0 / 1).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520440"/>
            <a:ext cx="5056632" cy="2651760"/>
          </a:xfrm>
          <a:prstGeom prst="roundRect">
            <a:avLst>
              <a:gd name="adj" fmla="val 4138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20624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invalid zero values with the median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/ scale numerical features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test split (80 / 20)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Algorithm /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ensemble models and why they were selected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2239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2377440" cy="502920"/>
          </a:xfrm>
          <a:prstGeom prst="roundRect">
            <a:avLst>
              <a:gd name="adj" fmla="val 36364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44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 of decision trees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SELECTED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67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overfitting and easy to interpret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34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 on bootstrap samples, majority vote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57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PARAMETERS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5138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100, max_depth, random_state = 42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42239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011680"/>
            <a:ext cx="2377440" cy="502920"/>
          </a:xfrm>
          <a:prstGeom prst="roundRect">
            <a:avLst>
              <a:gd name="adj" fmla="val 36364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788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044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sequential tree building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611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SELECTED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867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through the boosting mechanism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434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the previous errors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5257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PARAMETERS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5138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0.1, n_estimators = 100, max_depth =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importance charts and comparison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685800" y="1874520"/>
          <a:ext cx="52120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45352" y="17830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1"/>
          <p:cNvGraphicFramePr/>
          <p:nvPr/>
        </p:nvGraphicFramePr>
        <p:xfrm>
          <a:off x="6382512" y="187452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methods: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ensembles beat single baselines such as Logistic Regression and Decision Tree, and add feature-level explanations.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 Screenshots /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frame with a screenshot from your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42616" cy="4389120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4663440"/>
            <a:ext cx="384048" cy="384048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4617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3907" y="18327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42616" cy="4389120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93592" y="4663440"/>
            <a:ext cx="384048" cy="38404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96512" y="4617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/ dataset 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783080"/>
            <a:ext cx="2642616" cy="4389120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9944" y="4663440"/>
            <a:ext cx="384048" cy="384048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12864" y="4617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screen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preprocessing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97696" y="1783080"/>
            <a:ext cx="2642616" cy="4389120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26296" y="4663440"/>
            <a:ext cx="384048" cy="38404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4617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 screen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and importance plot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FB92E9-757A-BC64-5C87-4778A18C0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07" y="2057400"/>
            <a:ext cx="2452081" cy="25146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B96E583-5CEA-2B8F-1511-8DDFBF655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320" y="2015392"/>
            <a:ext cx="2486144" cy="255660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29C094A-0836-30A4-3581-4F26A1AD4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236" y="1983046"/>
            <a:ext cx="2143024" cy="258895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D8EF017-4BE4-DE10-9FD7-CB3EA1E3C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6462" y="1948376"/>
            <a:ext cx="2585084" cy="2623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 Advantages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improvements over the existing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PROPOSED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88493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51460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diabetic vs. non-diabetic 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5361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61288" y="338328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interpretable feature rankings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62229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61288" y="425196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low-cost: runs on free tools like Colab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549097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61288" y="51206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compared for reliable conclusions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9632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OVER EXISTING APPROACH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9672" y="28849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251460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predictions instead of black-box 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9672" y="375361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338328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accuracy with clinical interpretability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19672" y="462229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25196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feature ranking gives stronger insight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19672" y="549097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51206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preprocessing handles missing values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 Applications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 and target users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88493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51460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diabetes risk screening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75361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61288" y="338328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462229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61288" y="425196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stratification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549097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61288" y="51206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and preventive-care programs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/ INDUSTRIES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22402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23E4D"/>
          </a:solidFill>
          <a:ln>
            <a:solidFill>
              <a:srgbClr val="023E4D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clinicians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88552" y="22402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9632" y="356616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labs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88552" y="356616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23E4D"/>
          </a:solidFill>
          <a:ln>
            <a:solidFill>
              <a:srgbClr val="023E4D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Health-tech startups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99632" y="48920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23E4D"/>
          </a:solidFill>
          <a:ln>
            <a:solidFill>
              <a:srgbClr val="023E4D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88552" y="489204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and dataset / technical constraints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023E4D"/>
          </a:solidFill>
          <a:ln w="12700">
            <a:solidFill>
              <a:srgbClr val="023E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8849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51460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runs in a notebook; no live clinical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75361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61288" y="338328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clinically validated on real patient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62229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61288" y="425196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shows correlation, not causation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549097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61288" y="51206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sensitive to hyperparameter tuning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9632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19672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TECHNICAL CONSTRAINTS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9672" y="288493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251460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(768 records) limits generalization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9672" y="375361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338328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Pima Indian female patients aged 21+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19672" y="462229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25196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zero values need imputation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19672" y="549097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51206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between diabetic and non-diabetic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improvements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GridSearch or Optuna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LightGBM, CatBoost and deep learning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multi-source datasets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06824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81144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features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4290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 with patient input form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per-patient explanations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role-based access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575304" cy="438912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39328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/ scaling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4290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Flask or Streamlit on the cloud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hospital EHR systems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with wearable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7A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 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D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robust ensemble models with explainability techniques enhances both the accuracy and clinical relevance of ML-based diabetes prediction, enabling informed, interpretable decision-making in diabetes screening.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4564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3383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36758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compared Random Forest and XGBoost for diabetes prediction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708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4297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45902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BMI and age are the strongest predictors; XGBoost slightly leads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2852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5212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contribution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55046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bridges accuracy and interpretability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1691640"/>
            <a:ext cx="3749040" cy="4343400"/>
          </a:xfrm>
          <a:prstGeom prst="roundRect">
            <a:avLst>
              <a:gd name="adj" fmla="val 2927"/>
            </a:avLst>
          </a:prstGeom>
          <a:solidFill>
            <a:srgbClr val="064958"/>
          </a:solidFill>
          <a:ln w="12700">
            <a:solidFill>
              <a:srgbClr val="0649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468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474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3474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Clinical Features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4805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4480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5486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Information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betes Teal">
  <a:themeElements>
    <a:clrScheme name="Diabetes Teal">
      <a:dk1>
        <a:srgbClr val="0B2B32"/>
      </a:dk1>
      <a:lt1>
        <a:srgbClr val="FFFFFF"/>
      </a:lt1>
      <a:dk2>
        <a:srgbClr val="023E4D"/>
      </a:dk2>
      <a:lt2>
        <a:srgbClr val="F5F9F8"/>
      </a:lt2>
      <a:accent1>
        <a:srgbClr val="028090"/>
      </a:accent1>
      <a:accent2>
        <a:srgbClr val="00A896"/>
      </a:accent2>
      <a:accent3>
        <a:srgbClr val="02C39A"/>
      </a:accent3>
      <a:accent4>
        <a:srgbClr val="5B7A80"/>
      </a:accent4>
      <a:accent5>
        <a:srgbClr val="E7F5F3"/>
      </a:accent5>
      <a:accent6>
        <a:srgbClr val="CFE6E3"/>
      </a:accent6>
      <a:hlink>
        <a:srgbClr val="028090"/>
      </a:hlink>
      <a:folHlink>
        <a:srgbClr val="5B7A80"/>
      </a:folHlink>
    </a:clrScheme>
    <a:fontScheme name="Diabete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1680</Words>
  <Application>Microsoft Office PowerPoint</Application>
  <PresentationFormat>Widescreen</PresentationFormat>
  <Paragraphs>385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Diabetes Teal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Importance Analysis in Diabetes Prediction</dc:title>
  <dc:subject>PptxGenJS Presentation</dc:subject>
  <dc:creator>CSIT</dc:creator>
  <cp:lastModifiedBy>Pawan Kumar</cp:lastModifiedBy>
  <cp:revision>4</cp:revision>
  <dcterms:created xsi:type="dcterms:W3CDTF">2026-10-14T02:08:47Z</dcterms:created>
  <dcterms:modified xsi:type="dcterms:W3CDTF">2026-10-14T06:29:07Z</dcterms:modified>
</cp:coreProperties>
</file>